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3297c731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3297c731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297c7312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297c7312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3297c7312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3297c731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297c73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3297c73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297c7312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3297c7312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297c731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297c731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297c7312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297c731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3297c7312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3297c7312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297c7312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3297c7312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297c7312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3297c7312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297c7312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3297c7312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297c731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297c731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297c7312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3297c7312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297c73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297c73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297c731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3297c73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www.cognitivemarketresearch.com/regional-analysis/europe-ai-in-fashion-market-report" TargetMode="External"/><Relationship Id="rId5" Type="http://schemas.openxmlformats.org/officeDocument/2006/relationships/hyperlink" Target="https://www.businessresearchinsights.com/market-reports/ai-in-fashion-market-122273" TargetMode="External"/><Relationship Id="rId6" Type="http://schemas.openxmlformats.org/officeDocument/2006/relationships/hyperlink" Target="https://ecdb.com/resources/sample-data/market/ro/fashion" TargetMode="External"/><Relationship Id="rId7" Type="http://schemas.openxmlformats.org/officeDocument/2006/relationships/hyperlink" Target="https://www.statista.com/outlook/cmo/smart-home/romania" TargetMode="External"/><Relationship Id="rId8" Type="http://schemas.openxmlformats.org/officeDocument/2006/relationships/hyperlink" Target="https://www.trade.gov/country-commercial-guides/romania-digital-econom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79650" y="232000"/>
            <a:ext cx="3902400" cy="14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o" sz="6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CLOYE</a:t>
            </a:r>
            <a:endParaRPr sz="33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688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26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Fie vremea cât de rea, noi îți alegem ținuta!</a:t>
            </a:r>
            <a:endParaRPr sz="450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-2870" l="0" r="0" t="0"/>
          <a:stretch/>
        </p:blipFill>
        <p:spPr>
          <a:xfrm>
            <a:off x="2279400" y="828550"/>
            <a:ext cx="4656375" cy="35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744575"/>
            <a:ext cx="85206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rgbClr val="2E75B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1175" y="253025"/>
            <a:ext cx="8520600" cy="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b="1" i="1" lang="ro" sz="2320" u="sng">
                <a:solidFill>
                  <a:srgbClr val="783F04"/>
                </a:solidFill>
              </a:rPr>
              <a:t>Analiza situației pieței</a:t>
            </a:r>
            <a:endParaRPr b="1" i="1" sz="2320" u="sng">
              <a:solidFill>
                <a:srgbClr val="783F04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150" y="1123025"/>
            <a:ext cx="5392850" cy="14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63200" y="796625"/>
            <a:ext cx="15663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rgbClr val="B45F06"/>
                </a:solidFill>
              </a:rPr>
              <a:t>Piața globală: </a:t>
            </a:r>
            <a:endParaRPr sz="1500">
              <a:solidFill>
                <a:srgbClr val="B45F06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63200" y="2662324"/>
            <a:ext cx="1778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rgbClr val="B45F06"/>
                </a:solidFill>
              </a:rPr>
              <a:t>Piața europeană:</a:t>
            </a:r>
            <a:r>
              <a:rPr lang="ro" sz="1600">
                <a:solidFill>
                  <a:srgbClr val="B45F06"/>
                </a:solidFill>
              </a:rPr>
              <a:t> </a:t>
            </a:r>
            <a:endParaRPr sz="1600">
              <a:solidFill>
                <a:srgbClr val="B45F06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008300" y="3101251"/>
            <a:ext cx="7127400" cy="776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Europa deține 31% din piața globală fashion tech. AI in Fashion Europa: $337,56 mil. (2023), CAGR 40% până în 2030.</a:t>
            </a:r>
            <a:r>
              <a:rPr lang="ro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i="1" lang="ro" sz="95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Cognitive Market Research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105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r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60%+ companii fashion din UE au adoptat instrumente AI în 2024 (față de 38% în 2021).</a:t>
            </a:r>
            <a:r>
              <a:rPr lang="ro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i="1" lang="ro" sz="95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Business Research Insights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63200" y="3937625"/>
            <a:ext cx="19755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rgbClr val="B45F06"/>
                </a:solidFill>
              </a:rPr>
              <a:t>Piața din România:</a:t>
            </a:r>
            <a:r>
              <a:rPr lang="ro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008300" y="4327925"/>
            <a:ext cx="7127400" cy="69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Fashion E-Commerce România: $1,225 mld. (2024). Fashion = 41,5% din e-commerce total.</a:t>
            </a:r>
            <a:r>
              <a:rPr lang="ro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i="1" lang="ro" sz="95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ECDB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105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r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Home România: $464,5 mil. (2024), CAGR 12,4%. Penetrare gospodării: 21,8% → 51,7% (2028).</a:t>
            </a:r>
            <a:r>
              <a:rPr lang="ro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i="1" lang="ro" sz="95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Statista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o" sz="105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r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Strategie Națională AI România 2024–2027. 2,3 milioane conexiuni 5G (mai 2024).</a:t>
            </a:r>
            <a:r>
              <a:rPr lang="ro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i="1" lang="ro" sz="95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Trade.gov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11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u="sng">
                <a:solidFill>
                  <a:srgbClr val="741B47"/>
                </a:solidFill>
              </a:rPr>
              <a:t>Analiza SWOT</a:t>
            </a:r>
            <a:r>
              <a:rPr lang="ro" u="sng"/>
              <a:t> </a:t>
            </a:r>
            <a:endParaRPr u="sng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200" y="745700"/>
            <a:ext cx="5853414" cy="415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06800"/>
            <a:ext cx="8520600" cy="572700"/>
          </a:xfrm>
          <a:prstGeom prst="rect">
            <a:avLst/>
          </a:prstGeom>
          <a:solidFill>
            <a:srgbClr val="FF99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Piața Țintă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3200"/>
            <a:ext cx="4420324" cy="345513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117725" y="1213200"/>
            <a:ext cx="30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>
                <a:solidFill>
                  <a:schemeClr val="lt1"/>
                </a:solidFill>
              </a:rPr>
              <a:t>Segment Principal → B2B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4425" y="1213200"/>
            <a:ext cx="4107175" cy="23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4901700" y="1213200"/>
            <a:ext cx="4061700" cy="402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348125" y="1213200"/>
            <a:ext cx="32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>
                <a:solidFill>
                  <a:schemeClr val="lt1"/>
                </a:solidFill>
              </a:rPr>
              <a:t>Segment Secundar → B2C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330875" y="445075"/>
            <a:ext cx="8520600" cy="57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b="1" lang="ro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Analiza Concurenței — Comparație 4P</a:t>
            </a:r>
            <a:endParaRPr b="1"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00" y="1127775"/>
            <a:ext cx="8769601" cy="39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96400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Strategia de produs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Strategia de pret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00" y="1075150"/>
            <a:ext cx="86340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Înfrumusețează acest slide"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18613"/>
          <a:stretch/>
        </p:blipFill>
        <p:spPr>
          <a:xfrm>
            <a:off x="854050" y="1115875"/>
            <a:ext cx="7156900" cy="32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Comunicare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16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Buget promovare</a:t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567" y="865163"/>
            <a:ext cx="5883532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Proiectii financiare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600" y="1017725"/>
            <a:ext cx="6143074" cy="398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za un slide frumos cu aceste informatii"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